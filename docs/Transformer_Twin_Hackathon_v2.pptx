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1.jpg" ContentType="image/jpg"/>
  <Override PartName="/ppt/media/image10.jpg" ContentType="image/jpg"/>
  <Override PartName="/ppt/media/image1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71" r:id="rId9"/>
    <p:sldId id="262" r:id="rId10"/>
    <p:sldId id="263" r:id="rId11"/>
    <p:sldId id="273" r:id="rId23"/>
    <p:sldId id="264" r:id="rId12"/>
    <p:sldId id="265" r:id="rId13"/>
    <p:sldId id="266" r:id="rId14"/>
    <p:sldId id="267" r:id="rId15"/>
    <p:sldId id="272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3F58E30-8805-9732-D005-8EA536F186B0}">
          <p14:sldIdLst>
            <p14:sldId id="256"/>
          </p14:sldIdLst>
        </p14:section>
        <p14:section name="Problem and solution" id="{BDE4EE20-43EF-09C4-DF44-5D5E918F59A2}">
          <p14:sldIdLst>
            <p14:sldId id="257"/>
            <p14:sldId id="258"/>
            <p14:sldId id="270"/>
          </p14:sldIdLst>
        </p14:section>
        <p14:section name="The twin" id="{E98E5DDC-1D1C-3B43-AFC6-6CDA22BB7113}">
          <p14:sldIdLst>
            <p14:sldId id="259"/>
            <p14:sldId id="260"/>
            <p14:sldId id="261"/>
            <p14:sldId id="271"/>
            <p14:sldId id="262"/>
          </p14:sldIdLst>
        </p14:section>
        <p14:section name="Rules and prediction" id="{B5C86B11-9B28-6E28-903F-FABB656FF9DE}">
          <p14:sldIdLst>
            <p14:sldId id="263"/>
            <p14:sldId id="264"/>
            <p14:sldId id="265"/>
          </p14:sldIdLst>
        </p14:section>
        <p14:section name="Demo" id="{AF5134C9-C0BD-6FDC-9B1A-F119B1010CF8}">
          <p14:sldIdLst>
            <p14:sldId id="266"/>
            <p14:sldId id="267"/>
            <p14:sldId id="272"/>
          </p14:sldIdLst>
        </p14:section>
        <p14:section name="Close" id="{96B5E104-868F-4A5A-8558-C0C5881F9C7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EF0F3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EEF0F3"/>
                </a:solidFill>
                <a:latin typeface="+mn-lt"/>
              </a:rPr>
              <a:t>Ageing rate doubles every 6 K above 98 °C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ageing V</c:v>
                </c:pt>
              </c:strCache>
            </c:strRef>
          </c:tx>
          <c:spPr>
            <a:solidFill>
              <a:srgbClr val="D0823F"/>
            </a:solidFill>
            <a:effectLst/>
          </c:spPr>
          <c:invertIfNegative val="0"/>
          <c:dLbls>
            <c:numFmt formatCode="0.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EEF0F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86 °C</c:v>
                </c:pt>
                <c:pt idx="1">
                  <c:v>92 °C</c:v>
                </c:pt>
                <c:pt idx="2">
                  <c:v>98 °C</c:v>
                </c:pt>
                <c:pt idx="3">
                  <c:v>104 °C</c:v>
                </c:pt>
                <c:pt idx="4">
                  <c:v>110 °C</c:v>
                </c:pt>
                <c:pt idx="5">
                  <c:v>116 °C</c:v>
                </c:pt>
                <c:pt idx="6">
                  <c:v>122 °C</c:v>
                </c:pt>
                <c:pt idx="7">
                  <c:v>128 °C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</c:v>
                </c:pt>
                <c:pt idx="1">
                  <c:v>0.5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  <c:pt idx="5">
                  <c:v>8</c:v>
                </c:pt>
                <c:pt idx="6">
                  <c:v>16</c:v>
                </c:pt>
                <c:pt idx="7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F5-4E68-84A5-3332E7E8AF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AA4B0"/>
                    </a:solidFill>
                    <a:latin typeface="Arial"/>
                  </a:defRPr>
                </a:pPr>
                <a:r>
                  <a:rPr lang="en-IN" sz="1100" b="0" i="0" u="none" strike="noStrike">
                    <a:solidFill>
                      <a:srgbClr val="9AA4B0"/>
                    </a:solidFill>
                    <a:latin typeface="Arial"/>
                  </a:rPr>
                  <a:t>Hot-spot temperature T_H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4B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32A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703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digital twin of the CPRI reference distribution transformer: a 3D model you can take apart, protection rules using the CPRI OTI and WTI settings, and predictive maintenance built on the IEC 60076-7 thermal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gaps: problems are discovered after failure, fixed thresholds react late and without context, and measuring instruments drift without anyone noticing.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twin combines three things in one dashboard. The data is simulated for the hackathon, but the backend accepts uploaded CSVs and posted readings, so real instruments can feed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generated by a Blender script, so it can be rebuilt and re-exported. Exploded on the left, cutaway on the right. In the dashboard the camera automatically focuses on whichever monitor is worst.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Instruments feed the FastAPI backend, which evaluates the rules and analytics and stores results in PostgreSQL. The dashboard reads the two-timebar payloads and alerts over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simulated signal has a real counterpart used in Indian DISCOM practice. The right column says honestly how common it is on a real distribution transformer: fibre-optic hot-spot probes, for example, are only fitted in test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Timebar 1 plays one day at the rates real protection needs: 20 ms electrical, 1 s thermal, 1 minute for slow signals. Timebar 2 plays a year of daily readings for problems that build over months: oil leaks and instrument drift. Each has its own player and speed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thresholds come from the CPRI reference transformer. OTI and WTI each trip on their own. The 120 % for 2 seconds overload trip is the setting the hackathon asked for. Voltage limits follow Indian Electricity Rule 54.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IEC 60076-7 model says what the winding should be at this load and weather. If the measured winding runs 1.5 K or more above that and the gap keeps growing, we flag excess heating. The ageing rate doubles every 6 K above 98 °C, which is why a few hot hours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Oil volume is compared with what it should be at today's oil temperature, so normal thermal contraction is not mistaken for a leak. Tank pressure uses the ideal gas law for a sealed tank. Precision devices are compared with a reference per phase; more than 1 % calls for recalibration.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fires at least once in the simulated day. Highlights: the overload trip at 10:08, the cooling failure that ends in an OTI trip, the pressure peak caught 28 kPa below the limit, and the evening WTI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Timebar 2 shows slow wear. One leak is caught early by the tolerance alarm; the other is allowed to reach the minimum oil level to show that flag. Instrument drift is caught and recalibrated a few days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path from prototype to a field-ready twin, then switch to the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49377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Digital Transformer Twin · CPRI 11 / 0.433 kV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 model render" descr="Rendered 3D model of the oil-immersed distribution transformer with IoT sensor labe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6519672" cy="3666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HACKATHON PROJECT</a:t>
            </a:r>
            <a:endParaRPr lang="en-US" sz="14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288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Digital Twin of a CPRI Distribution Transformer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Oil-immersed, 3-phase · 630 kVA · 11 / 0.433 kV · ONAN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See it</a:t>
            </a:r>
            <a:r>
              <a:rPr lang="en-US" sz="1600" dirty="0">
                <a:solidFill>
                  <a:schemeClr val="bg1"/>
                </a:solidFill>
              </a:rPr>
              <a:t> in 3D.  </a:t>
            </a:r>
            <a:r>
              <a:rPr lang="en-US" sz="1600" b="1" dirty="0">
                <a:solidFill>
                  <a:schemeClr val="accent1"/>
                </a:solidFill>
              </a:rPr>
              <a:t>Protect it</a:t>
            </a:r>
            <a:r>
              <a:rPr lang="en-US" sz="1600" dirty="0">
                <a:solidFill>
                  <a:schemeClr val="bg1"/>
                </a:solidFill>
              </a:rPr>
              <a:t> with CPRI settings.  </a:t>
            </a:r>
            <a:r>
              <a:rPr lang="en-US" sz="1600" b="1" dirty="0">
                <a:solidFill>
                  <a:schemeClr val="accent1"/>
                </a:solidFill>
              </a:rPr>
              <a:t>Predict</a:t>
            </a:r>
            <a:r>
              <a:rPr lang="en-US" sz="1600" dirty="0">
                <a:solidFill>
                  <a:schemeClr val="bg1"/>
                </a:solidFill>
              </a:rPr>
              <a:t> faults with IEC 60076-7.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Distribution transformers fail without warning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Problem 1 circle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Problem 1 icon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632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Faults are found after the fact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8862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Most distribution transformers are checked on periodic visits. A hot winding or a slow oil leak is noticed only when the unit trips or fails.</a:t>
            </a:r>
            <a:endParaRPr lang="en-US" sz="1500" dirty="0"/>
          </a:p>
        </p:txBody>
      </p:sp>
      <p:sp>
        <p:nvSpPr>
          <p:cNvPr id="8" name="Problem card 2"/>
          <p:cNvSpPr/>
          <p:nvPr/>
        </p:nvSpPr>
        <p:spPr>
          <a:xfrm>
            <a:off x="4325112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Problem 2 circle"/>
          <p:cNvSpPr/>
          <p:nvPr/>
        </p:nvSpPr>
        <p:spPr>
          <a:xfrm>
            <a:off x="4690872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Problem 2 icon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0872" y="30632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alarms react late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90872" y="38862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An OTI dial alarms at a set temperature. It cannot tell whether the oil is hot from load, a hot day, or a blocked radiator.</a:t>
            </a:r>
            <a:endParaRPr lang="en-US" sz="1500" dirty="0"/>
          </a:p>
        </p:txBody>
      </p:sp>
      <p:sp>
        <p:nvSpPr>
          <p:cNvPr id="13" name="Problem card 3"/>
          <p:cNvSpPr/>
          <p:nvPr/>
        </p:nvSpPr>
        <p:spPr>
          <a:xfrm>
            <a:off x="8101584" y="1554480"/>
            <a:ext cx="3502152" cy="420624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Problem 3 circle"/>
          <p:cNvSpPr/>
          <p:nvPr/>
        </p:nvSpPr>
        <p:spPr>
          <a:xfrm>
            <a:off x="8467344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Problem 3 icon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7344" y="3063240"/>
            <a:ext cx="2770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Instruments drift unnoticed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38862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CT, PT or temperature probe that reads 1 % off quietly corrupts every rule that depends on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One twin: see it, protect it, predict it</a:t>
            </a:r>
            <a:endParaRPr lang="en-US" sz="3200" dirty="0"/>
          </a:p>
        </p:txBody>
      </p:sp>
      <p:sp>
        <p:nvSpPr>
          <p:cNvPr id="3" name="Solution card 1"/>
          <p:cNvSpPr/>
          <p:nvPr/>
        </p:nvSpPr>
        <p:spPr>
          <a:xfrm>
            <a:off x="548640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olution 1 circle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Solution 1 icon" descr="Soluti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3D model of the transformer, inside and out. Sensors glow by status and the camera flies to the part that needs attention.</a:t>
            </a:r>
            <a:endParaRPr lang="en-US" sz="1500" dirty="0"/>
          </a:p>
        </p:txBody>
      </p:sp>
      <p:sp>
        <p:nvSpPr>
          <p:cNvPr id="8" name="Solution card 2"/>
          <p:cNvSpPr/>
          <p:nvPr/>
        </p:nvSpPr>
        <p:spPr>
          <a:xfrm>
            <a:off x="4325112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olution 2 circle"/>
          <p:cNvSpPr/>
          <p:nvPr/>
        </p:nvSpPr>
        <p:spPr>
          <a:xfrm>
            <a:off x="4690872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Solution 2 icon" descr="Soluti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612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0872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it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90872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Alarm and trip rules on CPRI settings: OTI 95 / 105 °C and WTI 105 / 120 °C, plus overload and voltage limits.</a:t>
            </a:r>
            <a:endParaRPr lang="en-US" sz="1500" dirty="0"/>
          </a:p>
        </p:txBody>
      </p:sp>
      <p:sp>
        <p:nvSpPr>
          <p:cNvPr id="13" name="Solution card 3"/>
          <p:cNvSpPr/>
          <p:nvPr/>
        </p:nvSpPr>
        <p:spPr>
          <a:xfrm>
            <a:off x="8101584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olution 3 circle"/>
          <p:cNvSpPr/>
          <p:nvPr/>
        </p:nvSpPr>
        <p:spPr>
          <a:xfrm>
            <a:off x="8467344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Solution 3 icon" descr="Soluti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7344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it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IEC 60076-7 thermal model, insulation ageing, temperature-corrected oil leak, tank pressure and instrument drift.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Today the twin plays simulated sensor data. CSV upload and a readings API let real instrument data take its place.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Scales in software, not in sheet metal</a:t>
            </a:r>
            <a:endParaRPr lang="en-US" sz="3200" dirty="0"/>
          </a:p>
        </p:txBody>
      </p:sp>
      <p:sp>
        <p:nvSpPr>
          <p:cNvPr id="3" name="Scale card 1"/>
          <p:cNvSpPr/>
          <p:nvPr/>
        </p:nvSpPr>
        <p:spPr>
          <a:xfrm>
            <a:off x="548640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cale 1 circle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Scale 1 icon" descr="Soluti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rig to build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physical IoT model must be built, wired and calibrated for every transformer. Ours needs a new config file, not new hardware.</a:t>
            </a:r>
            <a:endParaRPr lang="en-US" sz="1500" dirty="0"/>
          </a:p>
        </p:txBody>
      </p:sp>
      <p:sp>
        <p:nvSpPr>
          <p:cNvPr id="8" name="Scale card 2"/>
          <p:cNvSpPr/>
          <p:nvPr/>
        </p:nvSpPr>
        <p:spPr>
          <a:xfrm>
            <a:off x="4325112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cale 2 circle"/>
          <p:cNvSpPr/>
          <p:nvPr/>
        </p:nvSpPr>
        <p:spPr>
          <a:xfrm>
            <a:off x="4690872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Scale 2 icon" descr="Soluti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0872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Real-unit accuracy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90872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 scale model's sensors measure the scale model. Our twin runs IEC 60076-7 physics on the real unit's ratings and CPRI settings.</a:t>
            </a:r>
            <a:endParaRPr lang="en-US" sz="1500" dirty="0"/>
          </a:p>
        </p:txBody>
      </p:sp>
      <p:sp>
        <p:nvSpPr>
          <p:cNvPr id="13" name="Scale card 3"/>
          <p:cNvSpPr/>
          <p:nvPr/>
        </p:nvSpPr>
        <p:spPr>
          <a:xfrm>
            <a:off x="8101584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cale 3 circle"/>
          <p:cNvSpPr/>
          <p:nvPr/>
        </p:nvSpPr>
        <p:spPr>
          <a:xfrm>
            <a:off x="8467344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Scale 3 icon" descr="Soluti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4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7344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code, any unit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Every twin shares the same 3D engine, protection rules and dashboard. Twinning the next transformer costs zero fabrication.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A physical model twins one transformer. Software twins the whole fleet.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The 3D twin: take it apart, look inside</a:t>
            </a:r>
            <a:endParaRPr lang="en-US" sz="3200" dirty="0"/>
          </a:p>
        </p:txBody>
      </p:sp>
      <p:pic>
        <p:nvPicPr>
          <p:cNvPr id="3" name="Exploded view" descr="Exploded view of the transformer: cover, core and coils lifted out of the ta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4937760" cy="4937760"/>
          </a:xfrm>
          <a:prstGeom prst="rect">
            <a:avLst/>
          </a:prstGeom>
        </p:spPr>
      </p:pic>
      <p:pic>
        <p:nvPicPr>
          <p:cNvPr id="4" name="Cutaway view" descr="Cutaway of the tank showing the three-phase coils in o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325880"/>
            <a:ext cx="5788152" cy="325526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852160" y="4800600"/>
            <a:ext cx="5788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Blender Python script → GLB → three.js in the browser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Stepped 3-limb core, HV disc and LV foil coils, tap switch, oil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Solid, Cutaway and X-ray views; Explode / Assemble animation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Sensors glow by status; the camera flies to the alarming part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Architecture block 1"/>
          <p:cNvSpPr/>
          <p:nvPr/>
        </p:nvSpPr>
        <p:spPr>
          <a:xfrm>
            <a:off x="548640" y="1737360"/>
            <a:ext cx="2377440" cy="301752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Field instruments circle"/>
          <p:cNvSpPr/>
          <p:nvPr/>
        </p:nvSpPr>
        <p:spPr>
          <a:xfrm>
            <a:off x="1325880" y="205740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Field instruments icon" descr="Field instru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2631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instruments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474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Simulated IoT: CTs, PTs, OTI, WTI, winding probe, ambient, pressure, oil volume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3017520" y="3063240"/>
            <a:ext cx="345338" cy="36576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Architecture block 2"/>
          <p:cNvSpPr/>
          <p:nvPr/>
        </p:nvSpPr>
        <p:spPr>
          <a:xfrm>
            <a:off x="3454298" y="1737360"/>
            <a:ext cx="2377440" cy="301752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FastAPI backend circle"/>
          <p:cNvSpPr/>
          <p:nvPr/>
        </p:nvSpPr>
        <p:spPr>
          <a:xfrm>
            <a:off x="4231538" y="205740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FastAPI backend icon" descr="FastAPI backen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278" y="22631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7178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82898" y="3474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Protection rules, IEC 60076-7 analytics and the two-timebar model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5923178" y="3063240"/>
            <a:ext cx="345338" cy="36576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Architecture block 3"/>
          <p:cNvSpPr/>
          <p:nvPr/>
        </p:nvSpPr>
        <p:spPr>
          <a:xfrm>
            <a:off x="6359957" y="1737360"/>
            <a:ext cx="2377440" cy="301752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PostgreSQL circle"/>
          <p:cNvSpPr/>
          <p:nvPr/>
        </p:nvSpPr>
        <p:spPr>
          <a:xfrm>
            <a:off x="7137197" y="205740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PostgreSQL icon" descr="PostgreSQ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937" y="22631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42837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588557" y="3474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Readings, alerts and the maintenance sheet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8828837" y="3063240"/>
            <a:ext cx="345338" cy="365760"/>
          </a:xfrm>
          <a:prstGeom prst="rightArrow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Architecture block 4"/>
          <p:cNvSpPr/>
          <p:nvPr/>
        </p:nvSpPr>
        <p:spPr>
          <a:xfrm>
            <a:off x="9265615" y="1737360"/>
            <a:ext cx="2377440" cy="301752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Dashboard circle"/>
          <p:cNvSpPr/>
          <p:nvPr/>
        </p:nvSpPr>
        <p:spPr>
          <a:xfrm>
            <a:off x="10042855" y="205740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Dashboard icon" descr="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595" y="22631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48495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494215" y="34747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3D twin, monitor cards, graphs, two timebars, signal list</a:t>
            </a:r>
            <a:endParaRPr lang="en-US" sz="1400" dirty="0"/>
          </a:p>
        </p:txBody>
      </p:sp>
      <p:sp>
        <p:nvSpPr>
          <p:cNvPr id="26" name="API strip"/>
          <p:cNvSpPr/>
          <p:nvPr/>
        </p:nvSpPr>
        <p:spPr>
          <a:xfrm>
            <a:off x="548640" y="5074920"/>
            <a:ext cx="11094415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868680" y="5074920"/>
            <a:ext cx="10454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REST API  </a:t>
            </a:r>
            <a:r>
              <a:rPr lang="en-US" sz="1500" dirty="0">
                <a:solidFill>
                  <a:schemeClr val="bg1"/>
                </a:solidFill>
              </a:rPr>
              <a:t>/api/twin2/timebar/1 and /2 · /api/alerts · /api/maintenance · CSV upload and export of every dataset</a:t>
            </a:r>
            <a:endParaRPr lang="en-US" sz="15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Every simulated IoT maps to a real instrument</a:t>
            </a:r>
            <a:endParaRPr lang="en-US" sz="3200" dirty="0"/>
          </a:p>
        </p:txBody>
      </p:sp>
      <p:graphicFrame>
        <p:nvGraphicFramePr>
          <p:cNvPr id="7" name="Instrumen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Simulated signal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Real-world instrument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On a real DT?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LV current and voltage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LT CTs and a DT energy meter or monitoring unit (DTMU)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11 kV current and voltage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11 kV CT and PT with a meter or relay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At the feeder / RMU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 ms per-cycle RMS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Class A power-quality analyser (IEC 61000-4-30)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Survey only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Top oil (OTI)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OTI dial, or PT100 in a thermowell with 4–20 mA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Usually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Winding (WTI)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WTI dial with image heater on an LV CT, or electronic WTI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Uncommon &lt; 1 MVA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Winding hot spot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Fibre-optic probes cast into the winding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Test units only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Ambient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Shielded PT100 or thermistor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With a DTMU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Tank pressure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Pressure-relief valve; pressure transducer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PRV common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Oil level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</a:rPr>
                        <a:t>Magnetic oil-level gauge with low-level switch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From simulated IoT to real hardware</a:t>
            </a:r>
            <a:endParaRPr lang="en-US" sz="3200" dirty="0"/>
          </a:p>
        </p:txBody>
      </p:sp>
      <p:graphicFrame>
        <p:nvGraphicFramePr>
          <p:cNvPr id="7" name="Hardw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442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IoT in the twin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Manufacturer and model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Notes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LV current R / Y / B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Siemens 4NC5432-2DH21  (1000/5 A, class 0.5 CT)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Three CTs, one per phase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Loading, LV voltage, current RMS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Schneider PowerLogic PM8240  (METSEPM8240)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Meter that feeds the twin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11 kV voltage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Arteche VRJ-17 outdoor VT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11 kV ratio set by maker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Top oil (OTI)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Qualitrol RTD 103-010-01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Fits the OTI pocket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Ambient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Vaisala HMP155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Shielded temperature channel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Winding (WTI)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Qualitrol 130 Thermal Plate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Needs a 1 A CT input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Winding hot spot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Qualitrol / Neoptix T2  T2S-01-20-0  (fibre optic)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Fitted at manufacture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Tank pressure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WIKA S-20 pressure transmitter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Range to be specified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Oil level / leak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Qualitrol 039 system, remote unit 039-018-01 (CS-48120)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Plus a tank-mounted gauge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CT / PT accuracy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Fluke 1777 Power Quality Analyzer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Portable reference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Probe accuracy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Fluke Calibration 1524 readout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With a reference probe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Serial to Ethernet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Moxa MGate MB3170I-T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Modbus RTU to TCP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548640" y="589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</a:rPr>
              <a:t>Candidate hardware, not a final procurement list: full order codes depend on the installation. Hot spot, ageing and leak analytics stay in software.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Two timebars: fast physics and slow wear</a:t>
            </a:r>
            <a:endParaRPr lang="en-US" sz="3200" dirty="0"/>
          </a:p>
        </p:txBody>
      </p:sp>
      <p:sp>
        <p:nvSpPr>
          <p:cNvPr id="3" name="Timebar 1 · one day"/>
          <p:cNvSpPr/>
          <p:nvPr/>
        </p:nvSpPr>
        <p:spPr>
          <a:xfrm>
            <a:off x="548640" y="1371600"/>
            <a:ext cx="5413248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69164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Timebar 1 · one day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9456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15 Jul 2026, fast signals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ms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28346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Voltage and current, 3 phases, both windings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8862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Top oil, WTI, measured winding, IEC model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377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min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93776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Ambient, tank pressure, precision devices</a:t>
            </a:r>
            <a:endParaRPr lang="en-US" sz="1600" dirty="0"/>
          </a:p>
        </p:txBody>
      </p:sp>
      <p:sp>
        <p:nvSpPr>
          <p:cNvPr id="12" name="Timebar 2 · one year"/>
          <p:cNvSpPr/>
          <p:nvPr/>
        </p:nvSpPr>
        <p:spPr>
          <a:xfrm>
            <a:off x="6236208" y="1371600"/>
            <a:ext cx="5413248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601968" y="169164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Timebar 2 · one year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194560"/>
            <a:ext cx="4681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1 Jul 2026 – 30 Jun 2027, daily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156448" y="283464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Oil volume balance (leak detection)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3886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156448" y="3886200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CT, PT and temperature-probe deviation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Protection rules on CPRI settings</a:t>
            </a:r>
            <a:endParaRPr lang="en-US" sz="3200" dirty="0"/>
          </a:p>
        </p:txBody>
      </p:sp>
      <p:sp>
        <p:nvSpPr>
          <p:cNvPr id="3" name="Top oil (OTI) card"/>
          <p:cNvSpPr/>
          <p:nvPr/>
        </p:nvSpPr>
        <p:spPr>
          <a:xfrm>
            <a:off x="548640" y="1325880"/>
            <a:ext cx="5413248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op oil (OTI) circle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Top oil (OTI) icon" descr="Top oil (OT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9431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55448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oil (OTI)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01168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95 °C alarm</a:t>
            </a:r>
            <a:r>
              <a:rPr lang="en-US" sz="1800" dirty="0">
                <a:solidFill>
                  <a:schemeClr val="bg1"/>
                </a:solidFill>
              </a:rPr>
              <a:t>   ·   </a:t>
            </a:r>
            <a:r>
              <a:rPr lang="en-US" sz="1800" b="1" dirty="0">
                <a:solidFill>
                  <a:schemeClr val="accent4"/>
                </a:solidFill>
              </a:rPr>
              <a:t>105 °C trip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CPRI setting</a:t>
            </a:r>
            <a:endParaRPr lang="en-US" sz="1400" dirty="0"/>
          </a:p>
        </p:txBody>
      </p:sp>
      <p:sp>
        <p:nvSpPr>
          <p:cNvPr id="9" name="Winding (WTI) card"/>
          <p:cNvSpPr/>
          <p:nvPr/>
        </p:nvSpPr>
        <p:spPr>
          <a:xfrm>
            <a:off x="6236208" y="1325880"/>
            <a:ext cx="5413248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Winding (WTI) circle"/>
          <p:cNvSpPr/>
          <p:nvPr/>
        </p:nvSpPr>
        <p:spPr>
          <a:xfrm>
            <a:off x="6510528" y="17373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Winding (WTI) icon" descr="Winding (WTI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19431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62088" y="155448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Winding (WTI)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562088" y="201168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105 °C alarm</a:t>
            </a:r>
            <a:r>
              <a:rPr lang="en-US" sz="1800" dirty="0">
                <a:solidFill>
                  <a:schemeClr val="bg1"/>
                </a:solidFill>
              </a:rPr>
              <a:t>   ·   </a:t>
            </a:r>
            <a:r>
              <a:rPr lang="en-US" sz="1800" b="1" dirty="0">
                <a:solidFill>
                  <a:schemeClr val="accent4"/>
                </a:solidFill>
              </a:rPr>
              <a:t>120 °C trip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562088" y="246888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CPRI setting, absolute temperature</a:t>
            </a:r>
            <a:endParaRPr lang="en-US" sz="1400" dirty="0"/>
          </a:p>
        </p:txBody>
      </p:sp>
      <p:sp>
        <p:nvSpPr>
          <p:cNvPr id="15" name="Loading card"/>
          <p:cNvSpPr/>
          <p:nvPr/>
        </p:nvSpPr>
        <p:spPr>
          <a:xfrm>
            <a:off x="548640" y="3200400"/>
            <a:ext cx="5413248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Loading circle"/>
          <p:cNvSpPr/>
          <p:nvPr/>
        </p:nvSpPr>
        <p:spPr>
          <a:xfrm>
            <a:off x="822960" y="36118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Loading icon" descr="Load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8176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74520" y="342900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Loading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1874520" y="388620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&gt; 100 % warning</a:t>
            </a:r>
            <a:r>
              <a:rPr lang="en-US" sz="1800" dirty="0">
                <a:solidFill>
                  <a:schemeClr val="bg1"/>
                </a:solidFill>
              </a:rPr>
              <a:t>   ·   </a:t>
            </a:r>
            <a:r>
              <a:rPr lang="en-US" sz="1800" b="1" dirty="0">
                <a:solidFill>
                  <a:schemeClr val="accent4"/>
                </a:solidFill>
              </a:rPr>
              <a:t>&gt; 120 % for 2 s trip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43434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Hackathon setting; I_rated 33.07 A HV, 840 A LV</a:t>
            </a:r>
            <a:endParaRPr lang="en-US" sz="1400" dirty="0"/>
          </a:p>
        </p:txBody>
      </p:sp>
      <p:sp>
        <p:nvSpPr>
          <p:cNvPr id="21" name="Voltage card"/>
          <p:cNvSpPr/>
          <p:nvPr/>
        </p:nvSpPr>
        <p:spPr>
          <a:xfrm>
            <a:off x="6236208" y="3200400"/>
            <a:ext cx="5413248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Voltage circle"/>
          <p:cNvSpPr/>
          <p:nvPr/>
        </p:nvSpPr>
        <p:spPr>
          <a:xfrm>
            <a:off x="6510528" y="361188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Voltage icon" descr="Volt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268" y="381762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62088" y="342900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7562088" y="388620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11 kV (MV): ±6 %</a:t>
            </a:r>
            <a:r>
              <a:rPr lang="en-US" sz="1800" dirty="0">
                <a:solidFill>
                  <a:schemeClr val="bg1"/>
                </a:solidFill>
              </a:rPr>
              <a:t>   ·   </a:t>
            </a:r>
            <a:r>
              <a:rPr lang="en-US" sz="1800" b="1" dirty="0">
                <a:solidFill>
                  <a:schemeClr val="accent4"/>
                </a:solidFill>
              </a:rPr>
              <a:t>433 V (LV): ±6 %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62088" y="4343400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Rule 54 and CEA; HV would be +6 / −9 %</a:t>
            </a:r>
            <a:endParaRPr lang="en-US" sz="1400" dirty="0"/>
          </a:p>
        </p:txBody>
      </p:sp>
      <p:sp>
        <p:nvSpPr>
          <p:cNvPr id="27" name="Trip logic banner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 txBox="1"/>
          <p:nvPr/>
        </p:nvSpPr>
        <p:spPr>
          <a:xfrm>
            <a:off x="868680" y="5166360"/>
            <a:ext cx="104543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Thermal TRIP = OTI trip OR WTI trip.  </a:t>
            </a:r>
            <a:r>
              <a:rPr lang="en-US" sz="1600" dirty="0">
                <a:solidFill>
                  <a:schemeClr val="bg1"/>
                </a:solidFill>
              </a:rPr>
              <a:t>The two are judged independently and never averaged. Winding rise over ambient is kept for analytics only.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Every limit traces to a standard</a:t>
            </a:r>
            <a:endParaRPr lang="en-US" sz="3200" dirty="0"/>
          </a:p>
        </p:txBody>
      </p:sp>
      <p:graphicFrame>
        <p:nvGraphicFramePr>
          <p:cNvPr id="7" name="Standard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4480000"/>
        </p:xfrm>
        <a:graphic>
          <a:graphicData uri="http://schemas.openxmlformats.org/drawingml/2006/table">
            <a:tbl>
              <a:tblPr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Parameter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Limit used in the twin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Source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Voltage, LV and MV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Under −6 %   ·   Over +6 %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Indian Electricity Rules, Rule 54; CEA regulations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Voltage, HV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Under −9 %   ·   Over +6 %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Indian Electricity Rules, Rule 54; CEA regulations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Top oil (OTI)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95 °C warning   ·   105 °C critical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CPRI pre-commissioning test checklist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Winding (WTI)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105 °C warning   ·   120 °C critical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CPRI pre-commissioning test checklist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Loading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120 % permissible limit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Specified by our project mentor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Impedance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Z = 4 %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BIS, IS 2026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Short-circuit current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bg2"/>
                          </a:solidFill>
                        </a:rPr>
                        <a:t>Isc = I_rated × 100 / Z %   →   827 A (11 kV)  ·  21 kA (433 V)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accent1"/>
                          </a:solidFill>
                        </a:rPr>
                        <a:t>Derived from IS 2026 impedance</a:t>
                      </a:r>
                      <a:endParaRPr lang="en-US" sz="115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548640" y="598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</a:rPr>
              <a:t>Rated current: I = S / (√3 · V) = 33.07 A on 11 kV and 840 A on 433 V for the 630 kVA unit. Thresholds live in config, so a different unit or standard is a config change, not a code change.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Predicting winding trouble with IEC 60076-7</a:t>
            </a:r>
            <a:endParaRPr lang="en-US" sz="3200" dirty="0"/>
          </a:p>
        </p:txBody>
      </p:sp>
      <p:sp>
        <p:nvSpPr>
          <p:cNvPr id="3" name="Thermal model card"/>
          <p:cNvSpPr/>
          <p:nvPr/>
        </p:nvSpPr>
        <p:spPr>
          <a:xfrm>
            <a:off x="548640" y="1325880"/>
            <a:ext cx="5852160" cy="48006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60020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Load factor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K = I / I_rated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Top-oil rise (with first-order lag)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ΔT_Ou = ΔT_Or · ((1 + R·K²) / (1 + R))^x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Hot spot (measured top-oil method)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T_H = T_O + H·g_r·K^y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Winding residual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R_W = measured − expected; flag at ≥ 1.5 K and growing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Relative ageing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V = 2^((T_H − 98) / 6),  L_EQ = Σ V·dt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Cooling flag</a:t>
            </a:r>
            <a:endParaRPr lang="en-US" sz="16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measured top-oil rise &gt; 1.15 × model over 30 min</a:t>
            </a:r>
            <a:endParaRPr lang="en-US" sz="1600" dirty="0"/>
          </a:p>
        </p:txBody>
      </p:sp>
      <p:graphicFrame>
        <p:nvGraphicFramePr>
          <p:cNvPr id="5" name="Ageing rate chart" descr="Relative ageing rate V rises from 0.25 at 86 °C to 32 at 128 °C"/>
          <p:cNvGraphicFramePr/>
          <p:nvPr/>
        </p:nvGraphicFramePr>
        <p:xfrm>
          <a:off x="6675120" y="1325880"/>
          <a:ext cx="496519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0" y="5394960"/>
            <a:ext cx="4965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Flags never trip: WINDING_EXCESS_HEATING, ACCELERATED_THERMAL_AGEING (60-min mean V &gt; 1) and COOLING_DEGRADATION go to the maintenance sheet.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Oil leaks, tank pressure and instrument drift</a:t>
            </a:r>
            <a:endParaRPr lang="en-US" sz="3200" dirty="0"/>
          </a:p>
        </p:txBody>
      </p:sp>
      <p:sp>
        <p:nvSpPr>
          <p:cNvPr id="3" name="Oil leak card"/>
          <p:cNvSpPr/>
          <p:nvPr/>
        </p:nvSpPr>
        <p:spPr>
          <a:xfrm>
            <a:off x="548640" y="1325880"/>
            <a:ext cx="3502152" cy="480060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Oil leak circle"/>
          <p:cNvSpPr/>
          <p:nvPr/>
        </p:nvSpPr>
        <p:spPr>
          <a:xfrm>
            <a:off x="868680" y="16459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Oil leak icon" descr="Oil lea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459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leak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V_exp = V_ref · [1 + β(T_oil − T_ref)]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R = V_meas − V_exp</a:t>
            </a:r>
            <a:endParaRPr lang="en-US" sz="1400" dirty="0"/>
          </a:p>
        </p:txBody>
      </p:sp>
      <p:sp>
        <p:nvSpPr>
          <p:cNvPr id="8" name="Oil leak signal 1"/>
          <p:cNvSpPr/>
          <p:nvPr/>
        </p:nvSpPr>
        <p:spPr>
          <a:xfrm>
            <a:off x="868680" y="3566160"/>
            <a:ext cx="286207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1005840" y="356616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OIL_LEAK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 &lt; −3 L</a:t>
            </a:r>
            <a:endParaRPr lang="en-US" sz="1200" dirty="0"/>
          </a:p>
        </p:txBody>
      </p:sp>
      <p:sp>
        <p:nvSpPr>
          <p:cNvPr id="10" name="Oil leak signal 2"/>
          <p:cNvSpPr/>
          <p:nvPr/>
        </p:nvSpPr>
        <p:spPr>
          <a:xfrm>
            <a:off x="868680" y="4251960"/>
            <a:ext cx="286207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005840" y="425196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MINIMUM_OIL_LEVEL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V_meas &lt; 288 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98348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Temperature-corrected, so oil shrinking on a cool night is not read as a leak.</a:t>
            </a:r>
            <a:endParaRPr lang="en-US" sz="1400" dirty="0"/>
          </a:p>
        </p:txBody>
      </p:sp>
      <p:sp>
        <p:nvSpPr>
          <p:cNvPr id="13" name="Tank pressure card"/>
          <p:cNvSpPr/>
          <p:nvPr/>
        </p:nvSpPr>
        <p:spPr>
          <a:xfrm>
            <a:off x="4325112" y="1325880"/>
            <a:ext cx="3502152" cy="480060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ank pressure circle"/>
          <p:cNvSpPr/>
          <p:nvPr/>
        </p:nvSpPr>
        <p:spPr>
          <a:xfrm>
            <a:off x="4645152" y="16459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Tank pressure icon" descr="Tank press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288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513832" y="16459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Tank pressure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4645152" y="260604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dV = β · V_oil · (T1 − T0)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P1 = P0 · (T1/T0) · (V_gas0/V_gas1)</a:t>
            </a:r>
            <a:endParaRPr lang="en-US" sz="1400" dirty="0"/>
          </a:p>
        </p:txBody>
      </p:sp>
      <p:sp>
        <p:nvSpPr>
          <p:cNvPr id="18" name="Tank pressure signal 1"/>
          <p:cNvSpPr/>
          <p:nvPr/>
        </p:nvSpPr>
        <p:spPr>
          <a:xfrm>
            <a:off x="4645152" y="3566160"/>
            <a:ext cx="286207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4782312" y="356616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WARNING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185 kPa or 30-min trend</a:t>
            </a:r>
            <a:endParaRPr lang="en-US" sz="1200" dirty="0"/>
          </a:p>
        </p:txBody>
      </p:sp>
      <p:sp>
        <p:nvSpPr>
          <p:cNvPr id="20" name="Tank pressure signal 2"/>
          <p:cNvSpPr/>
          <p:nvPr/>
        </p:nvSpPr>
        <p:spPr>
          <a:xfrm>
            <a:off x="4645152" y="4251960"/>
            <a:ext cx="286207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 txBox="1"/>
          <p:nvPr/>
        </p:nvSpPr>
        <p:spPr>
          <a:xfrm>
            <a:off x="4782312" y="425196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LIMIT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230 kPa (assumed)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645152" y="498348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Sealed-tank gas law in kelvin; gauge = absolute − atmospheric.</a:t>
            </a:r>
            <a:endParaRPr lang="en-US" sz="1400" dirty="0"/>
          </a:p>
        </p:txBody>
      </p:sp>
      <p:sp>
        <p:nvSpPr>
          <p:cNvPr id="23" name="Precision devices card"/>
          <p:cNvSpPr/>
          <p:nvPr/>
        </p:nvSpPr>
        <p:spPr>
          <a:xfrm>
            <a:off x="8101584" y="1325880"/>
            <a:ext cx="3502152" cy="480060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Precision devices circle"/>
          <p:cNvSpPr/>
          <p:nvPr/>
        </p:nvSpPr>
        <p:spPr>
          <a:xfrm>
            <a:off x="8421624" y="164592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Precision devices icon" descr="Precision devic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182880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290304" y="164592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 devices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421624" y="2606040"/>
            <a:ext cx="2862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dev = |meas − ref| / ref × 100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per phase: R, Y, B</a:t>
            </a:r>
            <a:endParaRPr lang="en-US" sz="1400" dirty="0"/>
          </a:p>
        </p:txBody>
      </p:sp>
      <p:sp>
        <p:nvSpPr>
          <p:cNvPr id="28" name="Precision devices signal 1"/>
          <p:cNvSpPr/>
          <p:nvPr/>
        </p:nvSpPr>
        <p:spPr>
          <a:xfrm>
            <a:off x="8421624" y="3566160"/>
            <a:ext cx="286207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4"/>
          <p:cNvSpPr txBox="1"/>
          <p:nvPr/>
        </p:nvSpPr>
        <p:spPr>
          <a:xfrm>
            <a:off x="8558784" y="356616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MAINTENANCE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dev &gt; 1 %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421624" y="4983480"/>
            <a:ext cx="2862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CT, PT and temperature probe are recalibrated when any phase drifts.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Demo: one day on timebar 1</a:t>
            </a:r>
            <a:endParaRPr lang="en-US" sz="3200" dirty="0"/>
          </a:p>
        </p:txBody>
      </p:sp>
      <p:sp>
        <p:nvSpPr>
          <p:cNvPr id="3" name="Day strip normal"/>
          <p:cNvSpPr/>
          <p:nvPr/>
        </p:nvSpPr>
        <p:spPr>
          <a:xfrm>
            <a:off x="1828800" y="1325880"/>
            <a:ext cx="9814255" cy="256032"/>
          </a:xfrm>
          <a:prstGeom prst="rect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Day strip event 1"/>
          <p:cNvSpPr/>
          <p:nvPr/>
        </p:nvSpPr>
        <p:spPr>
          <a:xfrm>
            <a:off x="3190528" y="1325880"/>
            <a:ext cx="54864" cy="25603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Day strip event 2"/>
          <p:cNvSpPr/>
          <p:nvPr/>
        </p:nvSpPr>
        <p:spPr>
          <a:xfrm>
            <a:off x="4997987" y="1325880"/>
            <a:ext cx="54864" cy="25603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Day strip event 3"/>
          <p:cNvSpPr/>
          <p:nvPr/>
        </p:nvSpPr>
        <p:spPr>
          <a:xfrm>
            <a:off x="5971234" y="1325880"/>
            <a:ext cx="89964" cy="25603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Day strip event 4"/>
          <p:cNvSpPr/>
          <p:nvPr/>
        </p:nvSpPr>
        <p:spPr>
          <a:xfrm>
            <a:off x="6061198" y="1325880"/>
            <a:ext cx="130857" cy="256032"/>
          </a:xfrm>
          <a:prstGeom prst="rect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Day strip event 5"/>
          <p:cNvSpPr/>
          <p:nvPr/>
        </p:nvSpPr>
        <p:spPr>
          <a:xfrm>
            <a:off x="6327000" y="1325880"/>
            <a:ext cx="1112282" cy="25603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Day strip event 6"/>
          <p:cNvSpPr/>
          <p:nvPr/>
        </p:nvSpPr>
        <p:spPr>
          <a:xfrm>
            <a:off x="8985028" y="1325880"/>
            <a:ext cx="625659" cy="256032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Day strip event 7"/>
          <p:cNvSpPr/>
          <p:nvPr/>
        </p:nvSpPr>
        <p:spPr>
          <a:xfrm>
            <a:off x="10293595" y="1325880"/>
            <a:ext cx="1349460" cy="256032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1325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Status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00:00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916604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06:00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12:00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823731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18:00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24:00</a:t>
            </a:r>
            <a:endParaRPr lang="en-US" sz="1000" dirty="0"/>
          </a:p>
        </p:txBody>
      </p:sp>
      <p:sp>
        <p:nvSpPr>
          <p:cNvPr id="17" name="Event row 1"/>
          <p:cNvSpPr/>
          <p:nvPr/>
        </p:nvSpPr>
        <p:spPr>
          <a:xfrm>
            <a:off x="548640" y="2011680"/>
            <a:ext cx="11094415" cy="51206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31520" y="20116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03:20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201168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Light-load over-voltage, primary +7.3 % for 88 s</a:t>
            </a:r>
            <a:endParaRPr lang="en-US" sz="1500" dirty="0"/>
          </a:p>
        </p:txBody>
      </p:sp>
      <p:sp>
        <p:nvSpPr>
          <p:cNvPr id="20" name="Event dot 1"/>
          <p:cNvSpPr/>
          <p:nvPr/>
        </p:nvSpPr>
        <p:spPr>
          <a:xfrm>
            <a:off x="8275320" y="218541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549640" y="201168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OVERVOLTAGE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256032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05:12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828800" y="256032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Winding probe drops out for 20 s</a:t>
            </a:r>
            <a:endParaRPr lang="en-US" sz="1500" dirty="0"/>
          </a:p>
        </p:txBody>
      </p:sp>
      <p:sp>
        <p:nvSpPr>
          <p:cNvPr id="24" name="Event dot 2"/>
          <p:cNvSpPr/>
          <p:nvPr/>
        </p:nvSpPr>
        <p:spPr>
          <a:xfrm>
            <a:off x="8275320" y="2734056"/>
            <a:ext cx="164592" cy="164592"/>
          </a:xfrm>
          <a:prstGeom prst="ellipse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549640" y="256032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2"/>
                </a:solidFill>
              </a:rPr>
              <a:t>Data error, no trip</a:t>
            </a:r>
            <a:endParaRPr lang="en-US" sz="1500" dirty="0"/>
          </a:p>
        </p:txBody>
      </p:sp>
      <p:sp>
        <p:nvSpPr>
          <p:cNvPr id="26" name="Event row 3"/>
          <p:cNvSpPr/>
          <p:nvPr/>
        </p:nvSpPr>
        <p:spPr>
          <a:xfrm>
            <a:off x="548640" y="3108960"/>
            <a:ext cx="11094415" cy="51206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1520" y="31089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07:45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828800" y="310896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2 s voltage dip, primary −8.8 %</a:t>
            </a:r>
            <a:endParaRPr lang="en-US" sz="1500" dirty="0"/>
          </a:p>
        </p:txBody>
      </p:sp>
      <p:sp>
        <p:nvSpPr>
          <p:cNvPr id="29" name="Event dot 3"/>
          <p:cNvSpPr/>
          <p:nvPr/>
        </p:nvSpPr>
        <p:spPr>
          <a:xfrm>
            <a:off x="8275320" y="328269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8549640" y="310896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UNDERVOLTAGE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65760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10:08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828800" y="365760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Feeder transferred on (112 %), then a 128 % surge</a:t>
            </a:r>
            <a:endParaRPr lang="en-US" sz="1500" dirty="0"/>
          </a:p>
        </p:txBody>
      </p:sp>
      <p:sp>
        <p:nvSpPr>
          <p:cNvPr id="33" name="Event dot 4"/>
          <p:cNvSpPr/>
          <p:nvPr/>
        </p:nvSpPr>
        <p:spPr>
          <a:xfrm>
            <a:off x="8275320" y="3831336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8549640" y="365760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Overload trip</a:t>
            </a:r>
            <a:endParaRPr lang="en-US" sz="1500" dirty="0"/>
          </a:p>
        </p:txBody>
      </p:sp>
      <p:sp>
        <p:nvSpPr>
          <p:cNvPr id="35" name="Event row 5"/>
          <p:cNvSpPr/>
          <p:nvPr/>
        </p:nvSpPr>
        <p:spPr>
          <a:xfrm>
            <a:off x="548640" y="4206240"/>
            <a:ext cx="11094415" cy="51206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731520" y="420624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11:00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828800" y="420624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Radiator fans fail and a winding duct blocks</a:t>
            </a:r>
            <a:endParaRPr lang="en-US" sz="1500" dirty="0"/>
          </a:p>
        </p:txBody>
      </p:sp>
      <p:sp>
        <p:nvSpPr>
          <p:cNvPr id="38" name="Event dot 5"/>
          <p:cNvSpPr/>
          <p:nvPr/>
        </p:nvSpPr>
        <p:spPr>
          <a:xfrm>
            <a:off x="8275320" y="4379976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8549640" y="420624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OTI trip at 105 °C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75488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13:43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828800" y="475488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Pressure peaks at 201.8 kPa, 28 kPa below the limit</a:t>
            </a:r>
            <a:endParaRPr lang="en-US" sz="1500" dirty="0"/>
          </a:p>
        </p:txBody>
      </p:sp>
      <p:sp>
        <p:nvSpPr>
          <p:cNvPr id="42" name="Event dot 6"/>
          <p:cNvSpPr/>
          <p:nvPr/>
        </p:nvSpPr>
        <p:spPr>
          <a:xfrm>
            <a:off x="8275320" y="4928616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8549640" y="475488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PRESSURE_WARNING</a:t>
            </a:r>
            <a:endParaRPr lang="en-US" sz="1500" dirty="0"/>
          </a:p>
        </p:txBody>
      </p:sp>
      <p:sp>
        <p:nvSpPr>
          <p:cNvPr id="44" name="Event row 7"/>
          <p:cNvSpPr/>
          <p:nvPr/>
        </p:nvSpPr>
        <p:spPr>
          <a:xfrm>
            <a:off x="548640" y="5303520"/>
            <a:ext cx="11094415" cy="512064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731520" y="530352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17:30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828800" y="530352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Evening peak near 117 %, one radiator bank still out</a:t>
            </a:r>
            <a:endParaRPr lang="en-US" sz="1500" dirty="0"/>
          </a:p>
        </p:txBody>
      </p:sp>
      <p:sp>
        <p:nvSpPr>
          <p:cNvPr id="47" name="Event dot 7"/>
          <p:cNvSpPr/>
          <p:nvPr/>
        </p:nvSpPr>
        <p:spPr>
          <a:xfrm>
            <a:off x="8275320" y="5477256"/>
            <a:ext cx="164592" cy="164592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8549640" y="530352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WTI trip at 120 °C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5852160"/>
            <a:ext cx="914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20:42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1828800" y="585216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Current device Y phase drifts past 1 %</a:t>
            </a:r>
            <a:endParaRPr lang="en-US" sz="1500" dirty="0"/>
          </a:p>
        </p:txBody>
      </p:sp>
      <p:sp>
        <p:nvSpPr>
          <p:cNvPr id="51" name="Event dot 8"/>
          <p:cNvSpPr/>
          <p:nvPr/>
        </p:nvSpPr>
        <p:spPr>
          <a:xfrm>
            <a:off x="8275320" y="602589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 txBox="1"/>
          <p:nvPr/>
        </p:nvSpPr>
        <p:spPr>
          <a:xfrm>
            <a:off x="8549640" y="5852160"/>
            <a:ext cx="30934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PRECISION_CURRENT</a:t>
            </a:r>
            <a:endParaRPr lang="en-US" sz="15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Demo: one year on timebar 2</a:t>
            </a:r>
            <a:endParaRPr lang="en-US" sz="3200" dirty="0"/>
          </a:p>
        </p:txBody>
      </p:sp>
      <p:sp>
        <p:nvSpPr>
          <p:cNvPr id="3" name="Year stat 1"/>
          <p:cNvSpPr/>
          <p:nvPr/>
        </p:nvSpPr>
        <p:spPr>
          <a:xfrm>
            <a:off x="548640" y="1554480"/>
            <a:ext cx="3502152" cy="393192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14400" y="19202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0632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days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of daily oil-volume and precision-device readings, 1 Jul 2026 to 30 Jun 2027</a:t>
            </a:r>
            <a:endParaRPr lang="en-US" sz="1500" dirty="0"/>
          </a:p>
        </p:txBody>
      </p:sp>
      <p:sp>
        <p:nvSpPr>
          <p:cNvPr id="7" name="Year stat 2"/>
          <p:cNvSpPr/>
          <p:nvPr/>
        </p:nvSpPr>
        <p:spPr>
          <a:xfrm>
            <a:off x="4325112" y="1554480"/>
            <a:ext cx="3502152" cy="393192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690872" y="19202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30632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oil leaks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36576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The first is caught by the −3 L leak alarm and repaired. The second reaches the minimum oil level before repair.</a:t>
            </a:r>
            <a:endParaRPr lang="en-US" sz="1500" dirty="0"/>
          </a:p>
        </p:txBody>
      </p:sp>
      <p:sp>
        <p:nvSpPr>
          <p:cNvPr id="11" name="Year stat 3"/>
          <p:cNvSpPr/>
          <p:nvPr/>
        </p:nvSpPr>
        <p:spPr>
          <a:xfrm>
            <a:off x="8101584" y="1554480"/>
            <a:ext cx="3502152" cy="393192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467344" y="1920240"/>
            <a:ext cx="2770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8467344" y="30632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precision devices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67344" y="3657600"/>
            <a:ext cx="27706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CT, PT and temperature probe each drift past 1 % two or three times, about every four months, and are recalibrated.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Each signal lands in the maintenance sheet with its time, the recommended action and whether it was resolved.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Ask the twin: chatbot and LLM</a:t>
            </a:r>
            <a:endParaRPr lang="en-US" sz="3200" dirty="0"/>
          </a:p>
        </p:txBody>
      </p:sp>
      <p:sp>
        <p:nvSpPr>
          <p:cNvPr id="3" name="Assistant card 1"/>
          <p:cNvSpPr/>
          <p:nvPr/>
        </p:nvSpPr>
        <p:spPr>
          <a:xfrm>
            <a:off x="548640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Assistant 1 circle"/>
          <p:cNvSpPr/>
          <p:nvPr/>
        </p:nvSpPr>
        <p:spPr>
          <a:xfrm>
            <a:off x="914400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Assistant 1 icon" descr="Solutio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2171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chatbot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Answers at both timebar cursors: oil, winding, repairs, what needs maintenance. Every answer cites check numbers.</a:t>
            </a:r>
            <a:endParaRPr lang="en-US" sz="1500" dirty="0"/>
          </a:p>
        </p:txBody>
      </p:sp>
      <p:sp>
        <p:nvSpPr>
          <p:cNvPr id="8" name="Assistant card 2"/>
          <p:cNvSpPr/>
          <p:nvPr/>
        </p:nvSpPr>
        <p:spPr>
          <a:xfrm>
            <a:off x="4325112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Assistant 2 circle"/>
          <p:cNvSpPr/>
          <p:nvPr/>
        </p:nvSpPr>
        <p:spPr>
          <a:xfrm>
            <a:off x="4690872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Assistant 2 icon" descr="Soluti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12" y="21717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0872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explains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90872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Gemini 2.5 Flash turns the evidence into plain language. JSON mode, temperature 0; the API key stays on the server.</a:t>
            </a:r>
            <a:endParaRPr lang="en-US" sz="1500" dirty="0"/>
          </a:p>
        </p:txBody>
      </p:sp>
      <p:sp>
        <p:nvSpPr>
          <p:cNvPr id="13" name="Assistant card 3"/>
          <p:cNvSpPr/>
          <p:nvPr/>
        </p:nvSpPr>
        <p:spPr>
          <a:xfrm>
            <a:off x="8101584" y="1554480"/>
            <a:ext cx="3502152" cy="3566160"/>
          </a:xfrm>
          <a:prstGeom prst="roundRect">
            <a:avLst>
              <a:gd name="adj" fmla="val 3133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Assistant 3 circle"/>
          <p:cNvSpPr/>
          <p:nvPr/>
        </p:nvSpPr>
        <p:spPr>
          <a:xfrm>
            <a:off x="8467344" y="1965960"/>
            <a:ext cx="822960" cy="822960"/>
          </a:xfrm>
          <a:prstGeom prst="ellipse">
            <a:avLst/>
          </a:prstGeom>
          <a:solidFill>
            <a:schemeClr val="accent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Assistant 3 icon" descr="Soluti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4" y="21717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67344" y="30175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verify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67344" y="3566160"/>
            <a:ext cx="2770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Every fact the LLM states is checked against the evidence. On failure or timeout, the grounded answer is shown.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/>
                </a:solidFill>
              </a:rPr>
              <a:t>The engine computes every risk score. The optional LLM only explains it and never changes a number.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utaway thumbnail" descr="Cutaway render of the transform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6519672" cy="3671533"/>
          </a:xfrm>
          <a:prstGeom prst="rect">
            <a:avLst/>
          </a:prstGeom>
        </p:spPr>
      </p:pic>
      <p:sp>
        <p:nvSpPr>
          <p:cNvPr id="19" name="Thank you"/>
          <p:cNvSpPr txBox="1"/>
          <p:nvPr/>
        </p:nvSpPr>
        <p:spPr>
          <a:xfrm>
            <a:off x="548640" y="2887326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Kicker"/>
          <p:cNvSpPr txBox="1"/>
          <p:nvPr/>
        </p:nvSpPr>
        <p:spPr>
          <a:xfrm>
            <a:off x="548640" y="243012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DIGITAL TRANSFORMER TWIN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nsformer Twin">
  <a:themeElements>
    <a:clrScheme name="Transformer Twin">
      <a:dk1>
        <a:srgbClr val="0D1015"/>
      </a:dk1>
      <a:lt1>
        <a:srgbClr val="EEF0F3"/>
      </a:lt1>
      <a:dk2>
        <a:srgbClr val="1A1F27"/>
      </a:dk2>
      <a:lt2>
        <a:srgbClr val="9AA4B0"/>
      </a:lt2>
      <a:accent1>
        <a:srgbClr val="D0823F"/>
      </a:accent1>
      <a:accent2>
        <a:srgbClr val="E8A63A"/>
      </a:accent2>
      <a:accent3>
        <a:srgbClr val="3FB68B"/>
      </a:accent3>
      <a:accent4>
        <a:srgbClr val="E5534B"/>
      </a:accent4>
      <a:accent5>
        <a:srgbClr val="4C9BE8"/>
      </a:accent5>
      <a:accent6>
        <a:srgbClr val="232A34"/>
      </a:accent6>
      <a:hlink>
        <a:srgbClr val="4C9BE8"/>
      </a:hlink>
      <a:folHlink>
        <a:srgbClr val="9AA4B0"/>
      </a:folHlink>
    </a:clrScheme>
    <a:fontScheme name="Transformer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2268</Words>
  <Application>Microsoft Office PowerPoint</Application>
  <PresentationFormat>Widescreen</PresentationFormat>
  <Paragraphs>275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Transformer Twin</vt:lpstr>
      <vt:lpstr>Digital Twin of a CPRI Distribution Transformer</vt:lpstr>
      <vt:lpstr>Distribution transformers fail without warning</vt:lpstr>
      <vt:lpstr>One twin: see it, protect it, predict it</vt:lpstr>
      <vt:lpstr>Scales in software, not in sheet metal</vt:lpstr>
      <vt:lpstr>The 3D twin: take it apart, look inside</vt:lpstr>
      <vt:lpstr>System architecture</vt:lpstr>
      <vt:lpstr>Every simulated IoT maps to a real instrument</vt:lpstr>
      <vt:lpstr>From simulated IoT to real hardware</vt:lpstr>
      <vt:lpstr>Two timebars: fast physics and slow wear</vt:lpstr>
      <vt:lpstr>Protection rules on CPRI settings</vt:lpstr>
      <vt:lpstr>Predicting winding trouble with IEC 60076-7</vt:lpstr>
      <vt:lpstr>Oil leaks, tank pressure and instrument drift</vt:lpstr>
      <vt:lpstr>Demo: one day on timebar 1</vt:lpstr>
      <vt:lpstr>Demo: one year on timebar 2</vt:lpstr>
      <vt:lpstr>Ask the twin: chatbot and LLM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of a CPRI Distribution Transformer</dc:title>
  <dc:subject>PptxGenJS Presentation</dc:subject>
  <dc:creator>Amisha</dc:creator>
  <cp:lastModifiedBy>DAKSH PAREEK - 245859134 - MITBLR</cp:lastModifiedBy>
  <cp:revision>2</cp:revision>
  <dcterms:created xsi:type="dcterms:W3CDTF">2026-10-11T04:26:54Z</dcterms:created>
  <dcterms:modified xsi:type="dcterms:W3CDTF">2026-10-11T05:47:35Z</dcterms:modified>
</cp:coreProperties>
</file>